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확률</c:v>
                </c:pt>
              </c:strCache>
            </c:strRef>
          </c:tx>
          <c:spPr>
            <a:solidFill>
              <a:srgbClr val="E08A0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448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안녕하세요</c:v>
                  </c:pt>
                  <c:pt idx="1">
                    <c:v>나</c:v>
                  </c:pt>
                  <c:pt idx="2">
                    <c:v>네</c:v>
                  </c:pt>
                  <c:pt idx="3">
                    <c:v>아니요</c:v>
                  </c:pt>
                  <c:pt idx="4">
                    <c:v>아파요</c:v>
                  </c:pt>
                  <c:pt idx="5">
                    <c:v>머리</c:v>
                  </c:pt>
                  <c:pt idx="6">
                    <c:v>약</c:v>
                  </c:pt>
                  <c:pt idx="7">
                    <c:v>병원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0.02</c:v>
                </c:pt>
                <c:pt idx="1">
                  <c:v>0.01</c:v>
                </c:pt>
                <c:pt idx="2">
                  <c:v>0.03</c:v>
                </c:pt>
                <c:pt idx="3">
                  <c:v>0.01</c:v>
                </c:pt>
                <c:pt idx="4">
                  <c:v>0.87</c:v>
                </c:pt>
                <c:pt idx="5">
                  <c:v>0.03</c:v>
                </c:pt>
                <c:pt idx="6">
                  <c:v>0.02</c:v>
                </c:pt>
                <c:pt idx="7">
                  <c:v>0.01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900" u="none">
                  <a:solidFill>
                    <a:srgbClr val="3A448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1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D5DAE6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1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10분 동안 두 가지를 공유합니다. LSTM이 왜 필요한지, 그리고 우리 코드의 층이 각각 무슨 일을 하는지입니다. 담당이 아니어도 전원이 알아야 하는 내용입니다.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146의 구성은 손 하나 67개씩 두 손 134개에 상체 12개입니다. 지난주 데이터 규격 표와 같습니다. 점 개수와 숫자 개수를 헷갈리지 않도록 아래 문장을 꼭 짚고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머리와 아프다는 손을 머리 근처로 올리는 자세가 비슷할 수 있습니다. 어느 방향으로 움직이는지가 뜻을 가릅니다.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줄로 펴는 방식이 이미지 분류에서는 통합니다. 이미지는 순서가 아니라 배치가 정보이기 때문입니다. 수어는 반대입니다. Transformer가 더 좋지 않냐는 질문이 나오면 데이터 양을 근거로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기억이라는 말은 비유입니다. 실제로는 숫자 벡터를 프레임마다 갱신하는 것이고, 그 벡터가 지금까지 본 움직임의 요약입니다.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수식은 설명하지 않습니다. 프로젝트 진행에 필요하지 않습니다. 문이 있고 학습으로 조절된다는 것까지가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Sequential은 위에서 아래로 순서대로 통과시킨다는 뜻입니다. 1초짜리 움직임 전체가 LSTM 두 층을 지나며 숫자 64개로 요약됩니다.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 파트의 출력이 조원 4의 입력입니다. 임계값 0.85와 연속 5회는 9주차에 다섯 명이 시험해서 확정할 예정입니다. 지금 값은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질문: Transformer가 더 좋지 않나 (데이터 양이 근거), 과적합이 뭔가 (연습문제 답만 외운 상태), 프레임을 40으로 늘리면 안 되나 (5주차 리허설에서 실측 후 결정).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/>
          </a:solidFill>
          <a:ln/>
        </p:spPr>
      </p:sp>
      <p:sp>
        <p:nvSpPr>
          <p:cNvPr id="3" name="Shape 1"/>
          <p:cNvSpPr/>
          <p:nvPr/>
        </p:nvSpPr>
        <p:spPr>
          <a:xfrm>
            <a:off x="690372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9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5276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9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52728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40180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27632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15084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79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002536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7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189988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7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77440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69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64892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6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52344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63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39796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127248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57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314700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5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502152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51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89604" y="777240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4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1380744"/>
            <a:ext cx="82296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LSTM으로 수어를 읽는다</a:t>
            </a:r>
            <a:endParaRPr lang="en-US" sz="4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2306117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8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30프레임 × 146차원이 단어 하나가 되기까지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02920" y="3140964"/>
            <a:ext cx="1481328" cy="724205"/>
          </a:xfrm>
          <a:prstGeom prst="roundRect">
            <a:avLst>
              <a:gd name="adj" fmla="val 7576"/>
            </a:avLst>
          </a:prstGeom>
          <a:solidFill>
            <a:srgbClr val="3A448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3251606"/>
            <a:ext cx="118872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1분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493008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가진 것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39696" y="3140964"/>
            <a:ext cx="1481328" cy="724205"/>
          </a:xfrm>
          <a:prstGeom prst="roundRect">
            <a:avLst>
              <a:gd name="adj" fmla="val 7576"/>
            </a:avLst>
          </a:prstGeom>
          <a:solidFill>
            <a:srgbClr val="3A448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276856" y="3251606"/>
            <a:ext cx="118872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2분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276856" y="3493008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순서가 문제인가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776472" y="3140964"/>
            <a:ext cx="1481328" cy="724205"/>
          </a:xfrm>
          <a:prstGeom prst="roundRect">
            <a:avLst>
              <a:gd name="adj" fmla="val 7576"/>
            </a:avLst>
          </a:prstGeom>
          <a:solidFill>
            <a:srgbClr val="3A448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913632" y="3251606"/>
            <a:ext cx="118872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3분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913632" y="3493008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LSTM의 발상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13248" y="3140964"/>
            <a:ext cx="1481328" cy="724205"/>
          </a:xfrm>
          <a:prstGeom prst="roundRect">
            <a:avLst>
              <a:gd name="adj" fmla="val 7576"/>
            </a:avLst>
          </a:prstGeom>
          <a:solidFill>
            <a:srgbClr val="3A448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550408" y="3251606"/>
            <a:ext cx="118872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3분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550408" y="3493008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코드의 층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50024" y="3140964"/>
            <a:ext cx="1481328" cy="724205"/>
          </a:xfrm>
          <a:prstGeom prst="roundRect">
            <a:avLst>
              <a:gd name="adj" fmla="val 7576"/>
            </a:avLst>
          </a:prstGeom>
          <a:solidFill>
            <a:srgbClr val="3A448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87184" y="3251606"/>
            <a:ext cx="118872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1분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187184" y="3493008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담당에게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4146804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SLink 캡스톤 · 2주차 개념 공유 · 조원 3 (모델 담당)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출발점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2578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우리가 가진 건 숫자 표 하나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18120" y="294437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F1F3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18120" y="294437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1분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99693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웹캠 1초 → 좌표 추출 → 30줄 146칸. 모델은 이 표만 보고 어떤 단어인지 답해야 합니다.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02613"/>
            <a:ext cx="137160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7635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줄 = 시간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1초 동안 받은 프레임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702613"/>
            <a:ext cx="16459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0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</a:t>
            </a:r>
            <a:endParaRPr lang="en-US" sz="58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2567635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칸 = 자세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 하나를 적은 숫자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0" y="1762963"/>
            <a:ext cx="18288" cy="1609344"/>
          </a:xfrm>
          <a:prstGeom prst="rect">
            <a:avLst/>
          </a:prstGeom>
          <a:solidFill>
            <a:srgbClr val="D5DAE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70832" y="1762963"/>
            <a:ext cx="8686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1프레임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57800" y="1762963"/>
            <a:ext cx="3383280" cy="281635"/>
          </a:xfrm>
          <a:prstGeom prst="roundRect">
            <a:avLst>
              <a:gd name="adj" fmla="val 19481"/>
            </a:avLst>
          </a:prstGeom>
          <a:solidFill>
            <a:srgbClr val="F1F3F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94960" y="1762963"/>
            <a:ext cx="3108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   -0.45   0.03   …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70832" y="2094890"/>
            <a:ext cx="8686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2프레임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2094890"/>
            <a:ext cx="3383280" cy="281635"/>
          </a:xfrm>
          <a:prstGeom prst="roundRect">
            <a:avLst>
              <a:gd name="adj" fmla="val 19481"/>
            </a:avLst>
          </a:prstGeom>
          <a:solidFill>
            <a:srgbClr val="F1F3F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94960" y="2094890"/>
            <a:ext cx="3108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   -0.43   0.02   …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370832" y="2426818"/>
            <a:ext cx="8686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3프레임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57800" y="2426818"/>
            <a:ext cx="3383280" cy="281635"/>
          </a:xfrm>
          <a:prstGeom prst="roundRect">
            <a:avLst>
              <a:gd name="adj" fmla="val 19481"/>
            </a:avLst>
          </a:prstGeom>
          <a:solidFill>
            <a:srgbClr val="F1F3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94960" y="2426818"/>
            <a:ext cx="3108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0.19   -0.38   0.05   …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370832" y="2758745"/>
            <a:ext cx="8686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57800" y="2758745"/>
            <a:ext cx="3383280" cy="281635"/>
          </a:xfrm>
          <a:prstGeom prst="roundRect">
            <a:avLst>
              <a:gd name="adj" fmla="val 19481"/>
            </a:avLst>
          </a:prstGeom>
          <a:solidFill>
            <a:srgbClr val="F1F3F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394960" y="2758745"/>
            <a:ext cx="3108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370832" y="3090672"/>
            <a:ext cx="8686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30프레임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57800" y="3090672"/>
            <a:ext cx="3383280" cy="281635"/>
          </a:xfrm>
          <a:prstGeom prst="roundRect">
            <a:avLst>
              <a:gd name="adj" fmla="val 19481"/>
            </a:avLst>
          </a:prstGeom>
          <a:solidFill>
            <a:srgbClr val="F1F3F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94960" y="3090672"/>
            <a:ext cx="3108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1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0.51   -0.10   0.08   …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3744468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점은 46개인데, 점마다 x·y·z가 있어서 숫자로 세면 146개가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왜 어려운가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2578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수어는 순서가 뜻을 만든다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18120" y="294437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F1F3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18120" y="294437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2분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99693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 모양이 같아도 어떻게 움직이는지가 다르면 다른 단어입니다.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62379"/>
            <a:ext cx="4023360" cy="1760220"/>
          </a:xfrm>
          <a:prstGeom prst="roundRect">
            <a:avLst>
              <a:gd name="adj" fmla="val 3117"/>
            </a:avLst>
          </a:prstGeom>
          <a:solidFill>
            <a:srgbClr val="F1F3F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63547"/>
            <a:ext cx="960120" cy="281635"/>
          </a:xfrm>
          <a:prstGeom prst="roundRect">
            <a:avLst>
              <a:gd name="adj" fmla="val 25974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863547"/>
            <a:ext cx="9601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단어 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1863547"/>
            <a:ext cx="2468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손 모양: 동일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21295C"/>
          </a:solidFill>
          <a:ln/>
        </p:spPr>
      </p:sp>
      <p:sp>
        <p:nvSpPr>
          <p:cNvPr id="12" name="Shape 10"/>
          <p:cNvSpPr/>
          <p:nvPr/>
        </p:nvSpPr>
        <p:spPr>
          <a:xfrm>
            <a:off x="996696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21295C">
              <a:alpha val="9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61872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21295C">
              <a:alpha val="9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27048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21295C">
              <a:alpha val="8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792224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21295C">
              <a:alpha val="8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057400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21295C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322576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21295C">
              <a:alpha val="7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587752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21295C">
              <a:alpha val="7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852928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21295C">
              <a:alpha val="69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118104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21295C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383280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21295C">
              <a:alpha val="61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48456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21295C">
              <a:alpha val="57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913632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21295C">
              <a:alpha val="53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178808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21295C">
              <a:alpha val="4900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2768803"/>
            <a:ext cx="35661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가슴 → 위로 → 머리에서 두 번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17720" y="1662379"/>
            <a:ext cx="4023360" cy="1760220"/>
          </a:xfrm>
          <a:prstGeom prst="roundRect">
            <a:avLst>
              <a:gd name="adj" fmla="val 3117"/>
            </a:avLst>
          </a:prstGeom>
          <a:solidFill>
            <a:srgbClr val="F1F3F9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1863547"/>
            <a:ext cx="960120" cy="281635"/>
          </a:xfrm>
          <a:prstGeom prst="roundRect">
            <a:avLst>
              <a:gd name="adj" fmla="val 25974"/>
            </a:avLst>
          </a:prstGeom>
          <a:solidFill>
            <a:srgbClr val="E08A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46320" y="1863547"/>
            <a:ext cx="9601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단어 B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1863547"/>
            <a:ext cx="2468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 손 모양: 동일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E08A00"/>
          </a:solidFill>
          <a:ln/>
        </p:spPr>
      </p:sp>
      <p:sp>
        <p:nvSpPr>
          <p:cNvPr id="31" name="Shape 29"/>
          <p:cNvSpPr/>
          <p:nvPr/>
        </p:nvSpPr>
        <p:spPr>
          <a:xfrm>
            <a:off x="5111496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E08A00">
              <a:alpha val="96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376672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E08A00">
              <a:alpha val="9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641848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E08A00">
              <a:alpha val="8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907024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E08A00">
              <a:alpha val="8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172200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E08A00">
              <a:alpha val="8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37376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E08A00">
              <a:alpha val="7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702552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E08A00">
              <a:alpha val="7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967728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E08A00">
              <a:alpha val="69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232904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E08A00">
              <a:alpha val="6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98080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E08A00">
              <a:alpha val="61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763256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E08A00">
              <a:alpha val="57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028432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E08A00">
              <a:alpha val="53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293608" y="2386584"/>
            <a:ext cx="182880" cy="160934"/>
          </a:xfrm>
          <a:prstGeom prst="roundRect">
            <a:avLst>
              <a:gd name="adj" fmla="val 17045"/>
            </a:avLst>
          </a:prstGeom>
          <a:solidFill>
            <a:srgbClr val="E08A00">
              <a:alpha val="49000"/>
            </a:srgbClr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846320" y="2768803"/>
            <a:ext cx="35661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머리 → 아래로 → 가슴에서 멈춤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02920" y="3613709"/>
            <a:ext cx="8138160" cy="724205"/>
          </a:xfrm>
          <a:prstGeom prst="roundRect">
            <a:avLst>
              <a:gd name="adj" fmla="val 7576"/>
            </a:avLst>
          </a:prstGeom>
          <a:solidFill>
            <a:srgbClr val="21295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77240" y="3613709"/>
            <a:ext cx="7589520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프레임 한 장만 보면 구분할 수 없다.  '어떤 순서로 지나갔는지'를 읽어야 답이 나온다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왜 어려운가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2578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일반 신경망은 시간 순서를 모른다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18120" y="294437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F1F3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18120" y="294437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2분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30452"/>
            <a:ext cx="3977640" cy="2514600"/>
          </a:xfrm>
          <a:prstGeom prst="roundRect">
            <a:avLst>
              <a:gd name="adj" fmla="val 2182"/>
            </a:avLst>
          </a:prstGeom>
          <a:solidFill>
            <a:srgbClr val="F1F3F9"/>
          </a:solidFill>
          <a:ln/>
        </p:spPr>
      </p:sp>
      <p:sp>
        <p:nvSpPr>
          <p:cNvPr id="7" name="Shape 5"/>
          <p:cNvSpPr/>
          <p:nvPr/>
        </p:nvSpPr>
        <p:spPr>
          <a:xfrm>
            <a:off x="704088" y="1531620"/>
            <a:ext cx="1417320" cy="281635"/>
          </a:xfrm>
          <a:prstGeom prst="roundRect">
            <a:avLst>
              <a:gd name="adj" fmla="val 25974"/>
            </a:avLst>
          </a:prstGeom>
          <a:solidFill>
            <a:srgbClr val="5A617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4088" y="1531620"/>
            <a:ext cx="141732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일반 신경망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1933956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× 146을 한 줄로 펴서 넣는다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04088" y="2286000"/>
            <a:ext cx="35661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4,380개가 나란히 들어갑니다. 모델은 1번째 값과 4,380번째 값이 시간상 1초 떨어져 있다는 사실을 알 수 없습니다.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3311957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어느 순서로 지나갔는지 구분 못 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330452"/>
            <a:ext cx="3977640" cy="2514600"/>
          </a:xfrm>
          <a:prstGeom prst="roundRect">
            <a:avLst>
              <a:gd name="adj" fmla="val 2182"/>
            </a:avLst>
          </a:prstGeom>
          <a:solidFill>
            <a:srgbClr val="F1F3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864608" y="1531620"/>
            <a:ext cx="914400" cy="281635"/>
          </a:xfrm>
          <a:prstGeom prst="roundRect">
            <a:avLst>
              <a:gd name="adj" fmla="val 25974"/>
            </a:avLst>
          </a:prstGeom>
          <a:solidFill>
            <a:srgbClr val="E08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64608" y="1531620"/>
            <a:ext cx="91440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LSTM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864608" y="1933956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30줄을 한 줄씩 순서대로 읽는다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2286000"/>
            <a:ext cx="35661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줄을 읽을 때마다 '지금까지 무슨 일이 있었는지'를 기억에 담고 갱신합니다.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64608" y="3311957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순서 자체가 판단 재료가 됨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4622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순서를 다루는 구조에는 RNN, GRU, Transformer도 있습니다. 데이터가 단어당 150개 수준이라 LSTM을 골랐습니다.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LSTM의 발상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2578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책을 한 문장씩 읽는 것과 같다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18120" y="294437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F1F3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18120" y="294437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3분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95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사람은 소설 100페이지를 눈에 통째로 넣지 않습니다. 한 문장씩 읽으며 줄거리를 머릿속에 담고, 그 상태로 다음 문장을 읽습니다.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833372"/>
            <a:ext cx="1051560" cy="341986"/>
          </a:xfrm>
          <a:prstGeom prst="roundRect">
            <a:avLst>
              <a:gd name="adj" fmla="val 21390"/>
            </a:avLst>
          </a:prstGeom>
          <a:solidFill>
            <a:srgbClr val="3A44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833372"/>
            <a:ext cx="105156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1프레임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64208" y="1984248"/>
            <a:ext cx="320040" cy="25146"/>
          </a:xfrm>
          <a:prstGeom prst="rect">
            <a:avLst/>
          </a:prstGeom>
          <a:solidFill>
            <a:srgbClr val="D5DAE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03120" y="1833372"/>
            <a:ext cx="457200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기억: 손이 가슴 앞에 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386584"/>
            <a:ext cx="1051560" cy="341986"/>
          </a:xfrm>
          <a:prstGeom prst="roundRect">
            <a:avLst>
              <a:gd name="adj" fmla="val 21390"/>
            </a:avLst>
          </a:prstGeom>
          <a:solidFill>
            <a:srgbClr val="3A448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2386584"/>
            <a:ext cx="105156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2프레임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64208" y="2537460"/>
            <a:ext cx="320040" cy="25146"/>
          </a:xfrm>
          <a:prstGeom prst="rect">
            <a:avLst/>
          </a:prstGeom>
          <a:solidFill>
            <a:srgbClr val="D5DAE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03120" y="2386584"/>
            <a:ext cx="457200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기억: 가슴 앞에서 위로 움직이기 시작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939796"/>
            <a:ext cx="1051560" cy="341986"/>
          </a:xfrm>
          <a:prstGeom prst="roundRect">
            <a:avLst>
              <a:gd name="adj" fmla="val 21390"/>
            </a:avLst>
          </a:prstGeom>
          <a:solidFill>
            <a:srgbClr val="3A448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2939796"/>
            <a:ext cx="105156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64208" y="3090672"/>
            <a:ext cx="320040" cy="25146"/>
          </a:xfrm>
          <a:prstGeom prst="rect">
            <a:avLst/>
          </a:prstGeom>
          <a:solidFill>
            <a:srgbClr val="D5DAE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03120" y="2939796"/>
            <a:ext cx="457200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기억: …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493008"/>
            <a:ext cx="1051560" cy="341986"/>
          </a:xfrm>
          <a:prstGeom prst="roundRect">
            <a:avLst>
              <a:gd name="adj" fmla="val 21390"/>
            </a:avLst>
          </a:prstGeom>
          <a:solidFill>
            <a:srgbClr val="0F8A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3493008"/>
            <a:ext cx="105156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30프레임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64208" y="3643884"/>
            <a:ext cx="320040" cy="25146"/>
          </a:xfrm>
          <a:prstGeom prst="rect">
            <a:avLst/>
          </a:prstGeom>
          <a:solidFill>
            <a:srgbClr val="D5DAE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103120" y="3493008"/>
            <a:ext cx="4572000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기억: 가슴에서 머리로 올라가 두 번 두드렸다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0" y="1833372"/>
            <a:ext cx="1783080" cy="2414016"/>
          </a:xfrm>
          <a:prstGeom prst="roundRect">
            <a:avLst>
              <a:gd name="adj" fmla="val 3077"/>
            </a:avLst>
          </a:prstGeom>
          <a:solidFill>
            <a:srgbClr val="21295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95160" y="2084832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마지막</a:t>
            </a:r>
            <a:endParaRPr lang="en-US" sz="15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기억을 보고</a:t>
            </a:r>
            <a:endParaRPr lang="en-US" sz="15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단어를 판단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67728" y="3241548"/>
            <a:ext cx="15544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기억은 실제로는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96개짜리 벡터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LSTM의 발상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2578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 세 개로 기억을 조절한다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18120" y="294437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F1F3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18120" y="294437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3분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95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RNN이라는 더 단순한 구조는 30프레임쯤 되면 앞부분을 잊었습니다. LSTM은 문 세 개를 달아 이를 해결했고, 그래서 Long Short-Term Memory입니다.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833372"/>
            <a:ext cx="2578608" cy="1810512"/>
          </a:xfrm>
          <a:prstGeom prst="roundRect">
            <a:avLst>
              <a:gd name="adj" fmla="val 3030"/>
            </a:avLst>
          </a:prstGeom>
          <a:solidFill>
            <a:srgbClr val="F1F3F9"/>
          </a:solidFill>
          <a:ln/>
        </p:spPr>
      </p:sp>
      <p:sp>
        <p:nvSpPr>
          <p:cNvPr id="8" name="Shape 6"/>
          <p:cNvSpPr/>
          <p:nvPr/>
        </p:nvSpPr>
        <p:spPr>
          <a:xfrm>
            <a:off x="704088" y="203454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4088" y="20345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104949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잊을 문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2688336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담아 둔 기억 중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버릴 것을 정한다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64408" y="1833372"/>
            <a:ext cx="2578608" cy="1810512"/>
          </a:xfrm>
          <a:prstGeom prst="roundRect">
            <a:avLst>
              <a:gd name="adj" fmla="val 3030"/>
            </a:avLst>
          </a:prstGeom>
          <a:solidFill>
            <a:srgbClr val="F1F3F9"/>
          </a:solidFill>
          <a:ln/>
        </p:spPr>
      </p:sp>
      <p:sp>
        <p:nvSpPr>
          <p:cNvPr id="13" name="Shape 11"/>
          <p:cNvSpPr/>
          <p:nvPr/>
        </p:nvSpPr>
        <p:spPr>
          <a:xfrm>
            <a:off x="3465576" y="2034540"/>
            <a:ext cx="457200" cy="457200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65576" y="20345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041648" y="2104949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쓸 문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465576" y="2688336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 들어온 정보 중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담을 것을 정한다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25896" y="1833372"/>
            <a:ext cx="2578608" cy="1810512"/>
          </a:xfrm>
          <a:prstGeom prst="roundRect">
            <a:avLst>
              <a:gd name="adj" fmla="val 3030"/>
            </a:avLst>
          </a:prstGeom>
          <a:solidFill>
            <a:srgbClr val="F1F3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227064" y="2034540"/>
            <a:ext cx="457200" cy="457200"/>
          </a:xfrm>
          <a:prstGeom prst="ellipse">
            <a:avLst/>
          </a:prstGeom>
          <a:solidFill>
            <a:srgbClr val="0F8A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27064" y="20345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03136" y="2104949"/>
            <a:ext cx="1645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꺼낼 문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227064" y="2688336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담아 둔 기억 중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쓸 것을 정한다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915461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문이 얼마나 열릴지도 학습으로 정해집니다. '동작 시작은 오래 기억하고 손 떨림은 흘려보낸다'를 데이터에서 스스로 배웁니다.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src/train.py · build_model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2578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우리 코드의 층 여덟 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18120" y="294437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F1F3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18120" y="294437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3분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29868"/>
            <a:ext cx="1965960" cy="311810"/>
          </a:xfrm>
          <a:prstGeom prst="roundRect">
            <a:avLst>
              <a:gd name="adj" fmla="val 23460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229868"/>
            <a:ext cx="19659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1229868"/>
            <a:ext cx="10515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(30, 146)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1229868"/>
            <a:ext cx="48463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좌표 표가 들어온다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72184" y="1551737"/>
            <a:ext cx="18288" cy="140818"/>
          </a:xfrm>
          <a:prstGeom prst="rect">
            <a:avLst/>
          </a:prstGeom>
          <a:solidFill>
            <a:srgbClr val="D5DAE6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632204"/>
            <a:ext cx="1965960" cy="311810"/>
          </a:xfrm>
          <a:prstGeom prst="roundRect">
            <a:avLst>
              <a:gd name="adj" fmla="val 23460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1632204"/>
            <a:ext cx="19659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1632204"/>
            <a:ext cx="10515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(30, 146)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1632204"/>
            <a:ext cx="48463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 0인 빈 프레임을 걸러 낸다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72184" y="1954073"/>
            <a:ext cx="18288" cy="140818"/>
          </a:xfrm>
          <a:prstGeom prst="rect">
            <a:avLst/>
          </a:prstGeom>
          <a:solidFill>
            <a:srgbClr val="D5DA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034540"/>
            <a:ext cx="1965960" cy="311810"/>
          </a:xfrm>
          <a:prstGeom prst="roundRect">
            <a:avLst>
              <a:gd name="adj" fmla="val 23460"/>
            </a:avLst>
          </a:prstGeom>
          <a:solidFill>
            <a:srgbClr val="E08A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2034540"/>
            <a:ext cx="19659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LSTM 96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2034540"/>
            <a:ext cx="10515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(30, 96)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2034540"/>
            <a:ext cx="48463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순서대로 읽고 매 프레임의 기억을 넘긴다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472184" y="2356409"/>
            <a:ext cx="18288" cy="140818"/>
          </a:xfrm>
          <a:prstGeom prst="rect">
            <a:avLst/>
          </a:prstGeom>
          <a:solidFill>
            <a:srgbClr val="D5DAE6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2436876"/>
            <a:ext cx="1965960" cy="311810"/>
          </a:xfrm>
          <a:prstGeom prst="roundRect">
            <a:avLst>
              <a:gd name="adj" fmla="val 23460"/>
            </a:avLst>
          </a:prstGeom>
          <a:solidFill>
            <a:srgbClr val="5A617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2920" y="2436876"/>
            <a:ext cx="19659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 0.3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606040" y="2436876"/>
            <a:ext cx="10515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(30, 96)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794760" y="2436876"/>
            <a:ext cx="48463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뉴런 30%를 임의로 꺼서 외우기를 막는다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472184" y="2758745"/>
            <a:ext cx="18288" cy="140818"/>
          </a:xfrm>
          <a:prstGeom prst="rect">
            <a:avLst/>
          </a:prstGeom>
          <a:solidFill>
            <a:srgbClr val="D5DAE6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2839212"/>
            <a:ext cx="1965960" cy="311810"/>
          </a:xfrm>
          <a:prstGeom prst="roundRect">
            <a:avLst>
              <a:gd name="adj" fmla="val 23460"/>
            </a:avLst>
          </a:prstGeom>
          <a:solidFill>
            <a:srgbClr val="E08A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02920" y="2839212"/>
            <a:ext cx="19659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LSTM 64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606040" y="2839212"/>
            <a:ext cx="10515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(64,)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794760" y="2839212"/>
            <a:ext cx="48463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읽고 마지막 기억만 출력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472184" y="3161081"/>
            <a:ext cx="18288" cy="140818"/>
          </a:xfrm>
          <a:prstGeom prst="rect">
            <a:avLst/>
          </a:prstGeom>
          <a:solidFill>
            <a:srgbClr val="D5DAE6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3241548"/>
            <a:ext cx="1965960" cy="311810"/>
          </a:xfrm>
          <a:prstGeom prst="roundRect">
            <a:avLst>
              <a:gd name="adj" fmla="val 23460"/>
            </a:avLst>
          </a:prstGeom>
          <a:solidFill>
            <a:srgbClr val="5A617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02920" y="3241548"/>
            <a:ext cx="19659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 0.3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606040" y="3241548"/>
            <a:ext cx="10515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(64,)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794760" y="3241548"/>
            <a:ext cx="48463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외우기를 막는다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472184" y="3563417"/>
            <a:ext cx="18288" cy="140818"/>
          </a:xfrm>
          <a:prstGeom prst="rect">
            <a:avLst/>
          </a:prstGeom>
          <a:solidFill>
            <a:srgbClr val="D5DAE6"/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" y="3643884"/>
            <a:ext cx="1965960" cy="311810"/>
          </a:xfrm>
          <a:prstGeom prst="roundRect">
            <a:avLst>
              <a:gd name="adj" fmla="val 23460"/>
            </a:avLst>
          </a:prstGeom>
          <a:solidFill>
            <a:srgbClr val="21295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02920" y="3643884"/>
            <a:ext cx="19659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64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606040" y="3643884"/>
            <a:ext cx="10515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(64,)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794760" y="3643884"/>
            <a:ext cx="48463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분류에 쓰기 좋게 다듬는다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72184" y="3965753"/>
            <a:ext cx="18288" cy="140818"/>
          </a:xfrm>
          <a:prstGeom prst="rect">
            <a:avLst/>
          </a:prstGeom>
          <a:solidFill>
            <a:srgbClr val="D5DAE6"/>
          </a:solidFill>
          <a:ln/>
        </p:spPr>
      </p:sp>
      <p:sp>
        <p:nvSpPr>
          <p:cNvPr id="41" name="Shape 39"/>
          <p:cNvSpPr/>
          <p:nvPr/>
        </p:nvSpPr>
        <p:spPr>
          <a:xfrm>
            <a:off x="502920" y="4046220"/>
            <a:ext cx="1965960" cy="311810"/>
          </a:xfrm>
          <a:prstGeom prst="roundRect">
            <a:avLst>
              <a:gd name="adj" fmla="val 23460"/>
            </a:avLst>
          </a:prstGeom>
          <a:solidFill>
            <a:srgbClr val="0F8A3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02920" y="4046220"/>
            <a:ext cx="19659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N + softmax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2606040" y="4046220"/>
            <a:ext cx="105156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(N,)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3794760" y="4046220"/>
            <a:ext cx="484632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단어별 확률, 합 = 1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63640" y="2819095"/>
            <a:ext cx="2377440" cy="422453"/>
          </a:xfrm>
          <a:prstGeom prst="roundRect">
            <a:avLst>
              <a:gd name="adj" fmla="val 12987"/>
            </a:avLst>
          </a:prstGeom>
          <a:solidFill>
            <a:srgbClr val="FFF4E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19088" y="2819095"/>
            <a:ext cx="21031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여기서 시간축이 사라진다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다음 담당에게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2578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확률이 다음 단계로 넘어간다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18120" y="294437"/>
            <a:ext cx="822960" cy="301752"/>
          </a:xfrm>
          <a:prstGeom prst="roundRect">
            <a:avLst>
              <a:gd name="adj" fmla="val 18182"/>
            </a:avLst>
          </a:prstGeom>
          <a:solidFill>
            <a:srgbClr val="F1F3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18120" y="294437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1분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99693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층은 단어별 확률을 냅니다. 이 숫자가 그대로 조원 4의 확정 로직으로 들어갑니다.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11480" y="1682496"/>
          <a:ext cx="4892040" cy="27660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1682496"/>
            <a:ext cx="3154680" cy="1257300"/>
          </a:xfrm>
          <a:prstGeom prst="roundRect">
            <a:avLst>
              <a:gd name="adj" fmla="val 4364"/>
            </a:avLst>
          </a:prstGeom>
          <a:solidFill>
            <a:srgbClr val="F1F3F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687568" y="18333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모델이 내는 것은 '답'이 아니라 '확률'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687568" y="2306117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합은 항상 1이고, 가장 큰 값의 크기가 모델의 확신도입니다.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3090672"/>
            <a:ext cx="3154680" cy="1357884"/>
          </a:xfrm>
          <a:prstGeom prst="roundRect">
            <a:avLst>
              <a:gd name="adj" fmla="val 4040"/>
            </a:avLst>
          </a:prstGeom>
          <a:solidFill>
            <a:srgbClr val="0F8A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87568" y="3241548"/>
            <a:ext cx="27432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 이상 × 5회 연속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687568" y="3593592"/>
            <a:ext cx="2743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8F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확률이 0.85을 넘고, 같은 단어가 다섯 번 연속 나와야 확정됩니다. 1초에 열 번 예측하므로 한 번의 오답으로 화면이 흔들리지 않습니다.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/>
          </a:solidFill>
          <a:ln/>
        </p:spPr>
      </p:sp>
      <p:sp>
        <p:nvSpPr>
          <p:cNvPr id="3" name="Shape 1"/>
          <p:cNvSpPr/>
          <p:nvPr/>
        </p:nvSpPr>
        <p:spPr>
          <a:xfrm>
            <a:off x="690372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9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5276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9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52728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440180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27632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15084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79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002536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7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189988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7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77440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69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64892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6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52344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63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39796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127248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57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314700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5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502152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51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689604" y="676656"/>
            <a:ext cx="146304" cy="160934"/>
          </a:xfrm>
          <a:prstGeom prst="roundRect">
            <a:avLst>
              <a:gd name="adj" fmla="val 18750"/>
            </a:avLst>
          </a:prstGeom>
          <a:solidFill>
            <a:srgbClr val="E08A00">
              <a:alpha val="48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1099109"/>
            <a:ext cx="365760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문장으로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1481328"/>
            <a:ext cx="81381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30프레임을 한 장씩 읽으며 기억을 갱신하고,</a:t>
            </a:r>
            <a:endParaRPr lang="en-US" sz="25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마지막 기억으로 단어별 확률을 낸다.</a:t>
            </a:r>
            <a:endParaRPr lang="en-US" sz="2500" dirty="0"/>
          </a:p>
        </p:txBody>
      </p:sp>
      <p:sp>
        <p:nvSpPr>
          <p:cNvPr id="22" name="Shape 20"/>
          <p:cNvSpPr/>
          <p:nvPr/>
        </p:nvSpPr>
        <p:spPr>
          <a:xfrm>
            <a:off x="502920" y="2939796"/>
            <a:ext cx="2578608" cy="1106424"/>
          </a:xfrm>
          <a:prstGeom prst="roundRect">
            <a:avLst>
              <a:gd name="adj" fmla="val 4959"/>
            </a:avLst>
          </a:prstGeom>
          <a:solidFill>
            <a:srgbClr val="3A448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110789"/>
            <a:ext cx="224028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순서가 정보다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452774"/>
            <a:ext cx="22402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8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LSTM을 쓴다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64408" y="2939796"/>
            <a:ext cx="2578608" cy="1106424"/>
          </a:xfrm>
          <a:prstGeom prst="roundRect">
            <a:avLst>
              <a:gd name="adj" fmla="val 4959"/>
            </a:avLst>
          </a:prstGeom>
          <a:solidFill>
            <a:srgbClr val="3A448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47288" y="3110789"/>
            <a:ext cx="224028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시간축은 2층에서 사라진다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447288" y="3452774"/>
            <a:ext cx="22402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8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1초 동작 = 숫자 64개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25896" y="2939796"/>
            <a:ext cx="2578608" cy="1106424"/>
          </a:xfrm>
          <a:prstGeom prst="roundRect">
            <a:avLst>
              <a:gd name="adj" fmla="val 4959"/>
            </a:avLst>
          </a:prstGeom>
          <a:solidFill>
            <a:srgbClr val="3A448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08776" y="3110789"/>
            <a:ext cx="224028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출력은 확률이다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208776" y="3452774"/>
            <a:ext cx="22402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8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조원 4의 확정 로직으로 이어진다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317797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받겠습니다.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LSTM 10분 발표</dc:title>
  <dc:subject>PptxGenJS Presentation</dc:subject>
  <dc:creator>SOAR / 조원 3</dc:creator>
  <cp:lastModifiedBy>SOAR / 조원 3</cp:lastModifiedBy>
  <cp:revision>1</cp:revision>
  <dcterms:created xsi:type="dcterms:W3CDTF">2026-09-15T00:49:35Z</dcterms:created>
  <dcterms:modified xsi:type="dcterms:W3CDTF">2026-09-15T00:49:35Z</dcterms:modified>
</cp:coreProperties>
</file>